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8" r:id="rId3"/>
    <p:sldId id="259" r:id="rId4"/>
    <p:sldId id="267" r:id="rId5"/>
    <p:sldId id="260" r:id="rId6"/>
    <p:sldId id="271" r:id="rId7"/>
    <p:sldId id="270" r:id="rId8"/>
    <p:sldId id="273" r:id="rId9"/>
    <p:sldId id="274" r:id="rId10"/>
    <p:sldId id="272" r:id="rId11"/>
    <p:sldId id="279" r:id="rId12"/>
    <p:sldId id="275" r:id="rId13"/>
    <p:sldId id="276" r:id="rId14"/>
    <p:sldId id="280" r:id="rId15"/>
    <p:sldId id="277" r:id="rId16"/>
    <p:sldId id="278" r:id="rId17"/>
    <p:sldId id="266" r:id="rId18"/>
  </p:sldIdLst>
  <p:sldSz cx="9144000" cy="5143500" type="screen16x9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105" d="100"/>
          <a:sy n="105" d="100"/>
        </p:scale>
        <p:origin x="802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435830234" r:id="rId1"/>
  </p:sldLayoutIdLst>
  <p:txStyles>
    <p:titleStyle>
      <a:lvl1pPr algn="ctr">
        <a:defRPr sz="4400" kern="1200">
          <a:solidFill>
            <a:schemeClr val="lt1"/>
          </a:solidFill>
        </a:defRPr>
      </a:lvl1pPr>
      <a:extLst/>
    </p:titleStyle>
    <p:bodyStyle>
      <a:lvl1pPr indent="-324900" algn="ctr">
        <a:defRPr sz="3200" kern="1200">
          <a:solidFill>
            <a:schemeClr val="tx1"/>
          </a:solidFill>
        </a:defRPr>
      </a:lvl1pPr>
      <a:extLst/>
    </p:bodyStyle>
    <p:otherStyle>
      <a:defPPr algn="ctr">
        <a:defRPr kern="1200">
          <a:solidFill>
            <a:schemeClr val="tx1"/>
          </a:solidFill>
        </a:defRPr>
      </a:defPPr>
      <a:extLst/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NUL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914400" y="1543050"/>
          <a:ext cx="8229600" cy="3143250"/>
          <a:chOff x="914400" y="1543050"/>
          <a:chExt cx="8229600" cy="3143250"/>
        </a:xfrm>
      </p:grpSpPr>
      <p:sp>
        <p:nvSpPr>
          <p:cNvPr id="2" name="TextBox 1"/>
          <p:cNvSpPr txBox="1"/>
          <p:nvPr/>
        </p:nvSpPr>
        <p:spPr>
          <a:xfrm>
            <a:off x="1104900" y="1733550"/>
            <a:ext cx="6934200" cy="1323439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t" anchorCtr="0">
            <a:spAutoFit/>
          </a:bodyPr>
          <a:lstStyle/>
          <a:p>
            <a:pPr lvl="0" algn="ctr" fontAlgn="t"/>
            <a:r>
              <a:rPr lang="en-GB" sz="4000" b="1" dirty="0"/>
              <a:t>Smart Student Performance Prediction System</a:t>
            </a:r>
            <a:endParaRPr lang="en-US" sz="4000" b="1" u="none" strike="noStrike" cap="none" spc="0" dirty="0">
              <a:solidFill>
                <a:srgbClr val="121212">
                  <a:alpha val="100000"/>
                </a:srgbClr>
              </a:solidFill>
              <a:latin typeface="Arial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104900" y="3155245"/>
            <a:ext cx="7315200" cy="523220"/>
          </a:xfrm>
          <a:prstGeom prst="rect">
            <a:avLst/>
          </a:prstGeom>
          <a:noFill/>
        </p:spPr>
        <p:txBody>
          <a:bodyPr vert="horz" lIns="91440" tIns="45720" rIns="91440" bIns="45720" rtlCol="0" anchor="t" anchorCtr="0">
            <a:spAutoFit/>
          </a:bodyPr>
          <a:lstStyle/>
          <a:p>
            <a:pPr marL="0" marR="0" lvl="0" indent="0" algn="ctr" defTabSz="914400" rtl="0" eaLnBrk="1" fontAlgn="t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424242">
                    <a:alpha val="100000"/>
                  </a:srgbClr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
Done By: Aml Tarek, Mohammad Mahmoud, Youssef Allam</a:t>
            </a:r>
          </a:p>
        </p:txBody>
      </p:sp>
      <p:pic>
        <p:nvPicPr>
          <p:cNvPr id="5" name="Picture 4" descr="A blue background with white text and mountains&#10;&#10;AI-generated content may be incorrect.">
            <a:extLst>
              <a:ext uri="{FF2B5EF4-FFF2-40B4-BE49-F238E27FC236}">
                <a16:creationId xmlns:a16="http://schemas.microsoft.com/office/drawing/2014/main" id="{77AF9E24-980A-9902-824B-80893989B6C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96200" y="118382"/>
            <a:ext cx="1323975" cy="1323975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914400" y="1028700"/>
          <a:ext cx="8229600" cy="2714625"/>
          <a:chOff x="914400" y="1028700"/>
          <a:chExt cx="8229600" cy="2714625"/>
        </a:xfrm>
      </p:grpSpPr>
      <p:sp>
        <p:nvSpPr>
          <p:cNvPr id="2" name="TextBox 1"/>
          <p:cNvSpPr txBox="1"/>
          <p:nvPr/>
        </p:nvSpPr>
        <p:spPr>
          <a:xfrm>
            <a:off x="838200" y="819150"/>
            <a:ext cx="7315200" cy="523220"/>
          </a:xfrm>
          <a:prstGeom prst="rect">
            <a:avLst/>
          </a:prstGeom>
          <a:noFill/>
        </p:spPr>
        <p:txBody>
          <a:bodyPr vert="horz" lIns="91440" tIns="45720" rIns="91440" bIns="45720" rtlCol="0" anchor="t" anchorCtr="0">
            <a:spAutoFit/>
          </a:bodyPr>
          <a:lstStyle/>
          <a:p>
            <a:pPr marL="0" marR="0" lvl="0" indent="0" algn="l" rtl="0" fontAlgn="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800" b="1" u="none" strike="noStrike" cap="none" spc="0" dirty="0">
                <a:solidFill>
                  <a:srgbClr val="121212">
                    <a:alpha val="100000"/>
                  </a:srgbClr>
                </a:solidFill>
                <a:latin typeface="Arial"/>
              </a:rPr>
              <a:t>Contents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38200" y="1428750"/>
            <a:ext cx="7315200" cy="4062651"/>
          </a:xfrm>
          <a:prstGeom prst="rect">
            <a:avLst/>
          </a:prstGeom>
          <a:noFill/>
        </p:spPr>
        <p:txBody>
          <a:bodyPr vert="horz" lIns="91440" tIns="45720" rIns="91440" bIns="45720" rtlCol="0" anchorCtr="0">
            <a:spAutoFit/>
          </a:bodyPr>
          <a:lstStyle/>
          <a:p>
            <a:pPr marL="342900" lvl="0" indent="-342900" fontAlgn="base">
              <a:buFont typeface="Arial" panose="020B0604020202020204" pitchFamily="34" charset="0"/>
              <a:buChar char="•"/>
            </a:pPr>
            <a:r>
              <a:rPr lang="en-GB" dirty="0"/>
              <a:t>Project Objectives</a:t>
            </a:r>
          </a:p>
          <a:p>
            <a:pPr marL="342900" lvl="0" indent="-342900" fontAlgn="base">
              <a:buFont typeface="Arial" panose="020B0604020202020204" pitchFamily="34" charset="0"/>
              <a:buChar char="•"/>
            </a:pPr>
            <a:r>
              <a:rPr lang="en-GB" dirty="0"/>
              <a:t>Data challenges</a:t>
            </a:r>
          </a:p>
          <a:p>
            <a:pPr marL="342900" lvl="0" indent="-342900" fontAlgn="base">
              <a:buFont typeface="Arial" panose="020B0604020202020204" pitchFamily="34" charset="0"/>
              <a:buChar char="•"/>
            </a:pPr>
            <a:r>
              <a:rPr lang="en-GB" dirty="0"/>
              <a:t>Preprocessing strategy</a:t>
            </a:r>
          </a:p>
          <a:p>
            <a:pPr marL="342900" lvl="0" indent="-342900" fontAlgn="base">
              <a:buFont typeface="Arial" panose="020B0604020202020204" pitchFamily="34" charset="0"/>
              <a:buChar char="•"/>
            </a:pPr>
            <a:r>
              <a:rPr lang="en-GB" dirty="0"/>
              <a:t>Class imbalance handling</a:t>
            </a:r>
          </a:p>
          <a:p>
            <a:pPr marL="342900" lvl="0" indent="-342900" fontAlgn="base">
              <a:buFont typeface="Arial" panose="020B0604020202020204" pitchFamily="34" charset="0"/>
              <a:buChar char="•"/>
            </a:pPr>
            <a:r>
              <a:rPr lang="en-GB" u="none" strike="noStrike" cap="none" spc="0" dirty="0" err="1">
                <a:solidFill>
                  <a:srgbClr val="424242">
                    <a:alpha val="100000"/>
                  </a:srgbClr>
                </a:solidFill>
              </a:rPr>
              <a:t>Modeling</a:t>
            </a:r>
            <a:r>
              <a:rPr lang="en-GB" u="none" strike="noStrike" cap="none" spc="0" dirty="0">
                <a:solidFill>
                  <a:srgbClr val="424242">
                    <a:alpha val="100000"/>
                  </a:srgbClr>
                </a:solidFill>
              </a:rPr>
              <a:t> </a:t>
            </a:r>
            <a:r>
              <a:rPr lang="en-GB" dirty="0">
                <a:solidFill>
                  <a:srgbClr val="424242">
                    <a:alpha val="100000"/>
                  </a:srgbClr>
                </a:solidFill>
              </a:rPr>
              <a:t>a</a:t>
            </a:r>
            <a:r>
              <a:rPr lang="en-GB" u="none" strike="noStrike" cap="none" spc="0" dirty="0">
                <a:solidFill>
                  <a:srgbClr val="424242">
                    <a:alpha val="100000"/>
                  </a:srgbClr>
                </a:solidFill>
              </a:rPr>
              <a:t>pproach</a:t>
            </a:r>
          </a:p>
          <a:p>
            <a:pPr marL="342900" lvl="0" indent="-342900" fontAlgn="base">
              <a:buFont typeface="Arial" panose="020B0604020202020204" pitchFamily="34" charset="0"/>
              <a:buChar char="•"/>
            </a:pPr>
            <a:r>
              <a:rPr lang="en-GB" u="none" strike="noStrike" cap="none" spc="0" dirty="0">
                <a:solidFill>
                  <a:srgbClr val="424242">
                    <a:alpha val="100000"/>
                  </a:srgbClr>
                </a:solidFill>
              </a:rPr>
              <a:t>Regression models(</a:t>
            </a:r>
            <a:r>
              <a:rPr lang="en-GB" u="none" strike="noStrike" cap="none" spc="0" dirty="0" err="1">
                <a:solidFill>
                  <a:srgbClr val="424242">
                    <a:alpha val="100000"/>
                  </a:srgbClr>
                </a:solidFill>
              </a:rPr>
              <a:t>Final_Score</a:t>
            </a:r>
            <a:r>
              <a:rPr lang="en-GB" u="none" strike="noStrike" cap="none" spc="0" dirty="0">
                <a:solidFill>
                  <a:srgbClr val="424242">
                    <a:alpha val="100000"/>
                  </a:srgbClr>
                </a:solidFill>
              </a:rPr>
              <a:t>)</a:t>
            </a:r>
          </a:p>
          <a:p>
            <a:pPr marL="342900" lvl="0" indent="-342900" fontAlgn="base">
              <a:buFont typeface="Arial" panose="020B0604020202020204" pitchFamily="34" charset="0"/>
              <a:buChar char="•"/>
            </a:pPr>
            <a:r>
              <a:rPr lang="en-GB" dirty="0">
                <a:solidFill>
                  <a:srgbClr val="424242">
                    <a:alpha val="100000"/>
                  </a:srgbClr>
                </a:solidFill>
              </a:rPr>
              <a:t>Regression results</a:t>
            </a:r>
          </a:p>
          <a:p>
            <a:pPr marL="342900" lvl="0" indent="-342900" fontAlgn="base">
              <a:buFont typeface="Arial" panose="020B0604020202020204" pitchFamily="34" charset="0"/>
              <a:buChar char="•"/>
            </a:pPr>
            <a:r>
              <a:rPr lang="en-GB" dirty="0">
                <a:solidFill>
                  <a:srgbClr val="424242">
                    <a:alpha val="100000"/>
                  </a:srgbClr>
                </a:solidFill>
              </a:rPr>
              <a:t>Classification models(</a:t>
            </a:r>
            <a:r>
              <a:rPr lang="en-GB" dirty="0" err="1">
                <a:solidFill>
                  <a:srgbClr val="424242">
                    <a:alpha val="100000"/>
                  </a:srgbClr>
                </a:solidFill>
              </a:rPr>
              <a:t>Pass_Fail</a:t>
            </a:r>
            <a:r>
              <a:rPr lang="en-GB" dirty="0">
                <a:solidFill>
                  <a:srgbClr val="424242">
                    <a:alpha val="100000"/>
                  </a:srgbClr>
                </a:solidFill>
              </a:rPr>
              <a:t>)</a:t>
            </a:r>
          </a:p>
          <a:p>
            <a:pPr marL="342900" lvl="0" indent="-342900" fontAlgn="base">
              <a:buFont typeface="Arial" panose="020B0604020202020204" pitchFamily="34" charset="0"/>
              <a:buChar char="•"/>
            </a:pPr>
            <a:r>
              <a:rPr lang="en-GB" dirty="0">
                <a:solidFill>
                  <a:srgbClr val="424242">
                    <a:alpha val="100000"/>
                  </a:srgbClr>
                </a:solidFill>
              </a:rPr>
              <a:t>Classification results</a:t>
            </a:r>
          </a:p>
          <a:p>
            <a:pPr marL="342900" lvl="0" indent="-342900" fontAlgn="base">
              <a:buFont typeface="Arial" panose="020B0604020202020204" pitchFamily="34" charset="0"/>
              <a:buChar char="•"/>
            </a:pPr>
            <a:r>
              <a:rPr lang="en-GB" dirty="0">
                <a:solidFill>
                  <a:srgbClr val="424242">
                    <a:alpha val="100000"/>
                  </a:srgbClr>
                </a:solidFill>
              </a:rPr>
              <a:t>Multiclass models (</a:t>
            </a:r>
            <a:r>
              <a:rPr lang="en-GB" dirty="0" err="1">
                <a:solidFill>
                  <a:srgbClr val="424242">
                    <a:alpha val="100000"/>
                  </a:srgbClr>
                </a:solidFill>
              </a:rPr>
              <a:t>Final_Grade</a:t>
            </a:r>
            <a:r>
              <a:rPr lang="en-GB" dirty="0">
                <a:solidFill>
                  <a:srgbClr val="424242">
                    <a:alpha val="100000"/>
                  </a:srgbClr>
                </a:solidFill>
              </a:rPr>
              <a:t>)</a:t>
            </a:r>
          </a:p>
          <a:p>
            <a:pPr marL="342900" lvl="0" indent="-342900" fontAlgn="base">
              <a:buFont typeface="Arial" panose="020B0604020202020204" pitchFamily="34" charset="0"/>
              <a:buChar char="•"/>
            </a:pPr>
            <a:r>
              <a:rPr lang="en-GB" dirty="0">
                <a:solidFill>
                  <a:srgbClr val="424242">
                    <a:alpha val="100000"/>
                  </a:srgbClr>
                </a:solidFill>
              </a:rPr>
              <a:t>Multiclass results</a:t>
            </a:r>
          </a:p>
          <a:p>
            <a:pPr marL="342900" lvl="0" indent="-342900" fontAlgn="base">
              <a:buFont typeface="Arial" panose="020B0604020202020204" pitchFamily="34" charset="0"/>
              <a:buChar char="•"/>
            </a:pPr>
            <a:endParaRPr lang="en-GB" sz="2000" u="none" strike="noStrike" cap="none" spc="0" dirty="0">
              <a:solidFill>
                <a:srgbClr val="424242">
                  <a:alpha val="100000"/>
                </a:srgbClr>
              </a:solidFill>
              <a:latin typeface="Arial"/>
            </a:endParaRPr>
          </a:p>
          <a:p>
            <a:pPr marL="342900" lvl="0" indent="-342900" fontAlgn="base">
              <a:buFont typeface="Arial" panose="020B0604020202020204" pitchFamily="34" charset="0"/>
              <a:buChar char="•"/>
            </a:pPr>
            <a:endParaRPr lang="en-GB" sz="2000" u="none" strike="noStrike" cap="none" spc="0" dirty="0">
              <a:solidFill>
                <a:srgbClr val="424242">
                  <a:alpha val="100000"/>
                </a:srgbClr>
              </a:solidFill>
              <a:latin typeface="Arial"/>
            </a:endParaRPr>
          </a:p>
          <a:p>
            <a:pPr marL="342900" marR="0" lvl="0" indent="-342900" algn="l" rtl="0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endParaRPr lang="en-US" sz="2000" u="none" strike="noStrike" cap="none" spc="0" dirty="0">
              <a:solidFill>
                <a:srgbClr val="424242">
                  <a:alpha val="100000"/>
                </a:srgbClr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914400" y="1028700"/>
          <a:ext cx="8229600" cy="3019425"/>
          <a:chOff x="914400" y="1028700"/>
          <a:chExt cx="8229600" cy="3019425"/>
        </a:xfrm>
      </p:grpSpPr>
      <p:sp>
        <p:nvSpPr>
          <p:cNvPr id="2" name="TextBox 1"/>
          <p:cNvSpPr txBox="1"/>
          <p:nvPr/>
        </p:nvSpPr>
        <p:spPr>
          <a:xfrm>
            <a:off x="878114" y="1047750"/>
            <a:ext cx="7315200" cy="523220"/>
          </a:xfrm>
          <a:prstGeom prst="rect">
            <a:avLst/>
          </a:prstGeom>
          <a:noFill/>
        </p:spPr>
        <p:txBody>
          <a:bodyPr vert="horz" lIns="91440" tIns="45720" rIns="91440" bIns="45720" rtlCol="0" anchor="t" anchorCtr="0">
            <a:spAutoFit/>
          </a:bodyPr>
          <a:lstStyle/>
          <a:p>
            <a:pPr lvl="0" fontAlgn="t"/>
            <a:r>
              <a:rPr lang="en-GB" sz="2800" b="1" dirty="0"/>
              <a:t>Project Objectives</a:t>
            </a:r>
            <a:endParaRPr lang="en-US" sz="2800" b="1" u="none" strike="noStrike" cap="none" spc="0" dirty="0">
              <a:solidFill>
                <a:srgbClr val="121212">
                  <a:alpha val="100000"/>
                </a:srgbClr>
              </a:solidFill>
              <a:latin typeface="Arial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914400" y="1800225"/>
            <a:ext cx="7315200" cy="1938992"/>
          </a:xfrm>
          <a:prstGeom prst="rect">
            <a:avLst/>
          </a:prstGeom>
          <a:noFill/>
        </p:spPr>
        <p:txBody>
          <a:bodyPr vert="horz" lIns="91440" tIns="45720" rIns="91440" bIns="45720" rtlCol="0" anchorCtr="0">
            <a:spAutoFit/>
          </a:bodyPr>
          <a:lstStyle/>
          <a:p>
            <a:pPr marL="342900" lvl="0" indent="-342900" fontAlgn="base">
              <a:buFont typeface="Arial" panose="020B0604020202020204" pitchFamily="34" charset="0"/>
              <a:buChar char="•"/>
            </a:pPr>
            <a:r>
              <a:rPr lang="en-GB" sz="2000" u="none" strike="noStrike" cap="none" spc="0" dirty="0">
                <a:solidFill>
                  <a:srgbClr val="424242">
                    <a:alpha val="100000"/>
                  </a:srgbClr>
                </a:solidFill>
                <a:latin typeface="Arial"/>
              </a:rPr>
              <a:t>Build a multi-task prediction system</a:t>
            </a:r>
          </a:p>
          <a:p>
            <a:pPr marL="342900" lvl="0" indent="-342900" fontAlgn="base">
              <a:buFont typeface="Arial" panose="020B0604020202020204" pitchFamily="34" charset="0"/>
              <a:buChar char="•"/>
            </a:pPr>
            <a:r>
              <a:rPr lang="en-GB" sz="2000" u="none" strike="noStrike" cap="none" spc="0" dirty="0">
                <a:solidFill>
                  <a:srgbClr val="424242">
                    <a:alpha val="100000"/>
                  </a:srgbClr>
                </a:solidFill>
                <a:latin typeface="Arial"/>
              </a:rPr>
              <a:t>Three targets:</a:t>
            </a:r>
          </a:p>
          <a:p>
            <a:pPr lvl="0" fontAlgn="base"/>
            <a:r>
              <a:rPr lang="en-GB" sz="2000" dirty="0">
                <a:solidFill>
                  <a:srgbClr val="424242">
                    <a:alpha val="100000"/>
                  </a:srgbClr>
                </a:solidFill>
                <a:latin typeface="Arial"/>
              </a:rPr>
              <a:t>          </a:t>
            </a:r>
            <a:r>
              <a:rPr lang="en-GB" sz="2000" u="none" strike="noStrike" cap="none" spc="0" dirty="0">
                <a:solidFill>
                  <a:srgbClr val="424242">
                    <a:alpha val="100000"/>
                  </a:srgbClr>
                </a:solidFill>
                <a:latin typeface="Arial"/>
              </a:rPr>
              <a:t>Pass / Fail (binary risk assessment)</a:t>
            </a:r>
          </a:p>
          <a:p>
            <a:pPr lvl="0" fontAlgn="base"/>
            <a:r>
              <a:rPr lang="en-GB" sz="2000" dirty="0">
                <a:solidFill>
                  <a:srgbClr val="424242">
                    <a:alpha val="100000"/>
                  </a:srgbClr>
                </a:solidFill>
                <a:latin typeface="Arial"/>
              </a:rPr>
              <a:t>          </a:t>
            </a:r>
            <a:r>
              <a:rPr lang="en-GB" sz="2000" u="none" strike="noStrike" cap="none" spc="0" dirty="0">
                <a:solidFill>
                  <a:srgbClr val="424242">
                    <a:alpha val="100000"/>
                  </a:srgbClr>
                </a:solidFill>
                <a:latin typeface="Arial"/>
              </a:rPr>
              <a:t>Final Grade (multiclass classification)</a:t>
            </a:r>
          </a:p>
          <a:p>
            <a:pPr lvl="0" fontAlgn="base"/>
            <a:r>
              <a:rPr lang="en-GB" sz="2000" dirty="0">
                <a:solidFill>
                  <a:srgbClr val="424242">
                    <a:alpha val="100000"/>
                  </a:srgbClr>
                </a:solidFill>
                <a:latin typeface="Arial"/>
              </a:rPr>
              <a:t>          </a:t>
            </a:r>
            <a:r>
              <a:rPr lang="en-GB" sz="2000" u="none" strike="noStrike" cap="none" spc="0" dirty="0">
                <a:solidFill>
                  <a:srgbClr val="424242">
                    <a:alpha val="100000"/>
                  </a:srgbClr>
                </a:solidFill>
                <a:latin typeface="Arial"/>
              </a:rPr>
              <a:t>Final Score (regression)</a:t>
            </a:r>
          </a:p>
          <a:p>
            <a:pPr marL="342900" lvl="0" indent="-342900" fontAlgn="base">
              <a:buFont typeface="Arial" panose="020B0604020202020204" pitchFamily="34" charset="0"/>
              <a:buChar char="•"/>
            </a:pPr>
            <a:r>
              <a:rPr lang="en-GB" sz="2000" u="none" strike="noStrike" cap="none" spc="0" dirty="0">
                <a:solidFill>
                  <a:srgbClr val="424242">
                    <a:alpha val="100000"/>
                  </a:srgbClr>
                </a:solidFill>
                <a:latin typeface="Arial"/>
              </a:rPr>
              <a:t>Emphasis on accuracy, generalization, and interpretability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8EA057-69FB-DB7D-1C4C-E23F21DF54D3}"/>
            </a:ext>
          </a:extLst>
        </p:cNvPr>
        <p:cNvGrpSpPr/>
        <p:nvPr/>
      </p:nvGrpSpPr>
      <p:grpSpPr>
        <a:xfrm>
          <a:off x="914400" y="1028700"/>
          <a:ext cx="8229600" cy="3019425"/>
          <a:chOff x="914400" y="1028700"/>
          <a:chExt cx="8229600" cy="3019425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86D426FB-0AD5-66B7-8E53-EC51492F355C}"/>
              </a:ext>
            </a:extLst>
          </p:cNvPr>
          <p:cNvSpPr txBox="1"/>
          <p:nvPr/>
        </p:nvSpPr>
        <p:spPr>
          <a:xfrm>
            <a:off x="685800" y="1047750"/>
            <a:ext cx="7315200" cy="523220"/>
          </a:xfrm>
          <a:prstGeom prst="rect">
            <a:avLst/>
          </a:prstGeom>
          <a:noFill/>
        </p:spPr>
        <p:txBody>
          <a:bodyPr vert="horz" lIns="91440" tIns="45720" rIns="91440" bIns="45720" rtlCol="0" anchor="t" anchorCtr="0">
            <a:spAutoFit/>
          </a:bodyPr>
          <a:lstStyle/>
          <a:p>
            <a:pPr lvl="0" fontAlgn="t"/>
            <a:r>
              <a:rPr lang="en-GB" sz="2800" b="1"/>
              <a:t>Data Challenges</a:t>
            </a:r>
            <a:endParaRPr lang="en-US" sz="2800" b="1" u="none" strike="noStrike" cap="none" spc="0" dirty="0">
              <a:solidFill>
                <a:srgbClr val="121212">
                  <a:alpha val="100000"/>
                </a:srgbClr>
              </a:solidFill>
              <a:latin typeface="Arial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257AFCA-39A5-6705-B3FB-D8C4DD45572A}"/>
              </a:ext>
            </a:extLst>
          </p:cNvPr>
          <p:cNvSpPr txBox="1"/>
          <p:nvPr/>
        </p:nvSpPr>
        <p:spPr>
          <a:xfrm>
            <a:off x="914400" y="1800225"/>
            <a:ext cx="7315200" cy="1631216"/>
          </a:xfrm>
          <a:prstGeom prst="rect">
            <a:avLst/>
          </a:prstGeom>
          <a:noFill/>
        </p:spPr>
        <p:txBody>
          <a:bodyPr vert="horz" lIns="91440" tIns="45720" rIns="91440" bIns="45720" rtlCol="0" anchorCtr="0">
            <a:spAutoFit/>
          </a:bodyPr>
          <a:lstStyle/>
          <a:p>
            <a:pPr marL="342900" lvl="0" indent="-342900" fontAlgn="base">
              <a:buFont typeface="Arial" panose="020B0604020202020204" pitchFamily="34" charset="0"/>
              <a:buChar char="•"/>
            </a:pPr>
            <a:r>
              <a:rPr lang="en-GB" sz="2000" u="none" strike="noStrike" cap="none" spc="0" dirty="0">
                <a:solidFill>
                  <a:srgbClr val="424242">
                    <a:alpha val="100000"/>
                  </a:srgbClr>
                </a:solidFill>
                <a:latin typeface="Arial"/>
              </a:rPr>
              <a:t>600 missing values per column</a:t>
            </a:r>
          </a:p>
          <a:p>
            <a:pPr marL="342900" lvl="0" indent="-342900" fontAlgn="base">
              <a:buFont typeface="Arial" panose="020B0604020202020204" pitchFamily="34" charset="0"/>
              <a:buChar char="•"/>
            </a:pPr>
            <a:r>
              <a:rPr lang="en-GB" sz="2000" u="none" strike="noStrike" cap="none" spc="0" dirty="0">
                <a:solidFill>
                  <a:srgbClr val="424242">
                    <a:alpha val="100000"/>
                  </a:srgbClr>
                </a:solidFill>
                <a:latin typeface="Arial"/>
              </a:rPr>
              <a:t>Significant class imbalance</a:t>
            </a:r>
          </a:p>
          <a:p>
            <a:pPr marL="342900" lvl="0" indent="-342900" fontAlgn="base">
              <a:buFont typeface="Arial" panose="020B0604020202020204" pitchFamily="34" charset="0"/>
              <a:buChar char="•"/>
            </a:pPr>
            <a:r>
              <a:rPr lang="en-GB" sz="2000" u="none" strike="noStrike" cap="none" spc="0" dirty="0">
                <a:solidFill>
                  <a:srgbClr val="424242">
                    <a:alpha val="100000"/>
                  </a:srgbClr>
                </a:solidFill>
                <a:latin typeface="Arial"/>
              </a:rPr>
              <a:t>Pass ≫ Fail</a:t>
            </a:r>
          </a:p>
          <a:p>
            <a:pPr marL="342900" lvl="0" indent="-342900" fontAlgn="base">
              <a:buFont typeface="Arial" panose="020B0604020202020204" pitchFamily="34" charset="0"/>
              <a:buChar char="•"/>
            </a:pPr>
            <a:r>
              <a:rPr lang="en-GB" sz="2000" u="none" strike="noStrike" cap="none" spc="0" dirty="0">
                <a:solidFill>
                  <a:srgbClr val="424242">
                    <a:alpha val="100000"/>
                  </a:srgbClr>
                </a:solidFill>
                <a:latin typeface="Arial"/>
              </a:rPr>
              <a:t>Grade “C” dominant</a:t>
            </a:r>
          </a:p>
          <a:p>
            <a:pPr marL="342900" lvl="0" indent="-342900" fontAlgn="base">
              <a:buFont typeface="Arial" panose="020B0604020202020204" pitchFamily="34" charset="0"/>
              <a:buChar char="•"/>
            </a:pPr>
            <a:r>
              <a:rPr lang="en-GB" sz="2000" u="none" strike="noStrike" cap="none" spc="0" dirty="0">
                <a:solidFill>
                  <a:srgbClr val="424242">
                    <a:alpha val="100000"/>
                  </a:srgbClr>
                </a:solidFill>
                <a:latin typeface="Arial"/>
              </a:rPr>
              <a:t>Logical outliers (negative sleep, &gt;100% attendance)</a:t>
            </a:r>
          </a:p>
        </p:txBody>
      </p:sp>
    </p:spTree>
    <p:extLst>
      <p:ext uri="{BB962C8B-B14F-4D97-AF65-F5344CB8AC3E}">
        <p14:creationId xmlns:p14="http://schemas.microsoft.com/office/powerpoint/2010/main" val="336733405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914400" y="1028700"/>
          <a:ext cx="8229600" cy="3019425"/>
          <a:chOff x="914400" y="1028700"/>
          <a:chExt cx="8229600" cy="3019425"/>
        </a:xfrm>
      </p:grpSpPr>
      <p:sp>
        <p:nvSpPr>
          <p:cNvPr id="2" name="TextBox 1"/>
          <p:cNvSpPr txBox="1"/>
          <p:nvPr/>
        </p:nvSpPr>
        <p:spPr>
          <a:xfrm>
            <a:off x="914400" y="1028700"/>
            <a:ext cx="7315200" cy="523220"/>
          </a:xfrm>
          <a:prstGeom prst="rect">
            <a:avLst/>
          </a:prstGeom>
          <a:noFill/>
        </p:spPr>
        <p:txBody>
          <a:bodyPr vert="horz" lIns="91440" tIns="45720" rIns="91440" bIns="45720" rtlCol="0" anchor="t" anchorCtr="0">
            <a:spAutoFit/>
          </a:bodyPr>
          <a:lstStyle/>
          <a:p>
            <a:pPr lvl="0" fontAlgn="t"/>
            <a:r>
              <a:rPr lang="en-GB" sz="2800" b="1"/>
              <a:t>Preprocessing Strategy</a:t>
            </a:r>
            <a:endParaRPr lang="en-US" sz="2800" b="1" u="none" strike="noStrike" cap="none" spc="0" dirty="0">
              <a:solidFill>
                <a:srgbClr val="121212">
                  <a:alpha val="100000"/>
                </a:srgbClr>
              </a:solidFill>
              <a:latin typeface="Arial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990600" y="1352550"/>
            <a:ext cx="7315200" cy="3170099"/>
          </a:xfrm>
          <a:prstGeom prst="rect">
            <a:avLst/>
          </a:prstGeom>
          <a:noFill/>
        </p:spPr>
        <p:txBody>
          <a:bodyPr vert="horz" lIns="91440" tIns="45720" rIns="91440" bIns="45720" rtlCol="0" anchorCtr="0">
            <a:spAutoFit/>
          </a:bodyPr>
          <a:lstStyle/>
          <a:p>
            <a:pPr marL="342900" marR="0" lvl="0" indent="-342900" algn="l" rtl="0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endParaRPr lang="en-GB" sz="2000" u="none" strike="noStrike" cap="none" spc="0" dirty="0">
              <a:solidFill>
                <a:srgbClr val="424242">
                  <a:alpha val="100000"/>
                </a:srgbClr>
              </a:solidFill>
              <a:latin typeface="Arial"/>
            </a:endParaRPr>
          </a:p>
          <a:p>
            <a:pPr marL="342900" lvl="0" indent="-342900" fontAlgn="base">
              <a:buFont typeface="Arial" panose="020B0604020202020204" pitchFamily="34" charset="0"/>
              <a:buChar char="•"/>
            </a:pPr>
            <a:r>
              <a:rPr lang="en-GB" sz="2000" dirty="0"/>
              <a:t>Missing values:</a:t>
            </a:r>
          </a:p>
          <a:p>
            <a:pPr lvl="0" fontAlgn="base"/>
            <a:r>
              <a:rPr lang="en-GB" sz="2000" dirty="0"/>
              <a:t>          Numerical → KNN </a:t>
            </a:r>
          </a:p>
          <a:p>
            <a:pPr lvl="0" fontAlgn="base"/>
            <a:r>
              <a:rPr lang="en-GB" sz="2000" dirty="0"/>
              <a:t>          Imputation Categorical → “Unknown” label</a:t>
            </a:r>
          </a:p>
          <a:p>
            <a:pPr marL="342900" lvl="0" indent="-342900" fontAlgn="base">
              <a:buFont typeface="Arial" panose="020B0604020202020204" pitchFamily="34" charset="0"/>
              <a:buChar char="•"/>
            </a:pPr>
            <a:r>
              <a:rPr lang="en-GB" sz="2000" dirty="0"/>
              <a:t>Outliers:</a:t>
            </a:r>
          </a:p>
          <a:p>
            <a:pPr lvl="0" fontAlgn="base"/>
            <a:r>
              <a:rPr lang="en-GB" sz="2000" dirty="0"/>
              <a:t>          Invalid values set to </a:t>
            </a:r>
            <a:r>
              <a:rPr lang="en-GB" sz="2000" dirty="0" err="1"/>
              <a:t>NaN</a:t>
            </a:r>
            <a:r>
              <a:rPr lang="en-GB" sz="2000" dirty="0"/>
              <a:t> and re-imputed</a:t>
            </a:r>
          </a:p>
          <a:p>
            <a:pPr marL="342900" lvl="0" indent="-342900" fontAlgn="base">
              <a:buFont typeface="Arial" panose="020B0604020202020204" pitchFamily="34" charset="0"/>
              <a:buChar char="•"/>
            </a:pPr>
            <a:r>
              <a:rPr lang="en-GB" sz="2000" dirty="0"/>
              <a:t>Encoding:</a:t>
            </a:r>
          </a:p>
          <a:p>
            <a:pPr lvl="0" fontAlgn="base"/>
            <a:r>
              <a:rPr lang="en-GB" sz="2000" dirty="0"/>
              <a:t>         One-Hot Encoding for </a:t>
            </a:r>
            <a:r>
              <a:rPr lang="en-GB" sz="2000" dirty="0" err="1"/>
              <a:t>categoricals</a:t>
            </a:r>
            <a:endParaRPr lang="en-GB" sz="2000" dirty="0"/>
          </a:p>
          <a:p>
            <a:pPr lvl="0" fontAlgn="base"/>
            <a:r>
              <a:rPr lang="en-GB" sz="2000" dirty="0"/>
              <a:t>         Z-score standardization for numerical features          </a:t>
            </a:r>
          </a:p>
          <a:p>
            <a:pPr marL="342900" lvl="0" indent="-342900" fontAlgn="base">
              <a:buFont typeface="Arial" panose="020B0604020202020204" pitchFamily="34" charset="0"/>
              <a:buChar char="•"/>
            </a:pPr>
            <a:endParaRPr lang="en-GB" sz="2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F60D66-10D2-F153-B60F-2C5CEB881D27}"/>
            </a:ext>
          </a:extLst>
        </p:cNvPr>
        <p:cNvGrpSpPr/>
        <p:nvPr/>
      </p:nvGrpSpPr>
      <p:grpSpPr>
        <a:xfrm>
          <a:off x="914400" y="1028700"/>
          <a:ext cx="8229600" cy="3019425"/>
          <a:chOff x="914400" y="1028700"/>
          <a:chExt cx="8229600" cy="3019425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2EEDFD02-D44B-CC2A-FC67-3B5B97802FB2}"/>
              </a:ext>
            </a:extLst>
          </p:cNvPr>
          <p:cNvSpPr txBox="1"/>
          <p:nvPr/>
        </p:nvSpPr>
        <p:spPr>
          <a:xfrm>
            <a:off x="685800" y="1047750"/>
            <a:ext cx="7315200" cy="523220"/>
          </a:xfrm>
          <a:prstGeom prst="rect">
            <a:avLst/>
          </a:prstGeom>
          <a:noFill/>
        </p:spPr>
        <p:txBody>
          <a:bodyPr vert="horz" lIns="91440" tIns="45720" rIns="91440" bIns="45720" rtlCol="0" anchor="t" anchorCtr="0">
            <a:spAutoFit/>
          </a:bodyPr>
          <a:lstStyle/>
          <a:p>
            <a:pPr lvl="0" fontAlgn="t"/>
            <a:r>
              <a:rPr lang="en-GB" sz="2800" b="1" dirty="0"/>
              <a:t>Class Imbalance Handling</a:t>
            </a:r>
            <a:endParaRPr lang="en-US" sz="2800" b="1" u="none" strike="noStrike" cap="none" spc="0" dirty="0">
              <a:solidFill>
                <a:srgbClr val="121212">
                  <a:alpha val="100000"/>
                </a:srgbClr>
              </a:solidFill>
              <a:latin typeface="Arial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5C9B1FD-309E-E2E8-AF05-29E2B2FECF05}"/>
              </a:ext>
            </a:extLst>
          </p:cNvPr>
          <p:cNvSpPr txBox="1"/>
          <p:nvPr/>
        </p:nvSpPr>
        <p:spPr>
          <a:xfrm>
            <a:off x="914400" y="1800225"/>
            <a:ext cx="7315200" cy="1323439"/>
          </a:xfrm>
          <a:prstGeom prst="rect">
            <a:avLst/>
          </a:prstGeom>
          <a:noFill/>
        </p:spPr>
        <p:txBody>
          <a:bodyPr vert="horz" lIns="91440" tIns="45720" rIns="91440" bIns="45720" rtlCol="0" anchorCtr="0">
            <a:spAutoFit/>
          </a:bodyPr>
          <a:lstStyle/>
          <a:p>
            <a:pPr marL="342900" lvl="0" indent="-342900" fontAlgn="base">
              <a:buFont typeface="Arial" panose="020B0604020202020204" pitchFamily="34" charset="0"/>
              <a:buChar char="•"/>
            </a:pPr>
            <a:r>
              <a:rPr lang="en-GB" sz="2000" u="none" strike="noStrike" cap="none" spc="0" dirty="0">
                <a:solidFill>
                  <a:srgbClr val="424242">
                    <a:alpha val="100000"/>
                  </a:srgbClr>
                </a:solidFill>
                <a:latin typeface="Arial"/>
              </a:rPr>
              <a:t>Used SMOTE / SMOTENC</a:t>
            </a:r>
          </a:p>
          <a:p>
            <a:pPr marL="342900" lvl="0" indent="-342900" fontAlgn="base">
              <a:buFont typeface="Arial" panose="020B0604020202020204" pitchFamily="34" charset="0"/>
              <a:buChar char="•"/>
            </a:pPr>
            <a:r>
              <a:rPr lang="en-GB" sz="2000" u="none" strike="noStrike" cap="none" spc="0" dirty="0">
                <a:solidFill>
                  <a:srgbClr val="424242">
                    <a:alpha val="100000"/>
                  </a:srgbClr>
                </a:solidFill>
                <a:latin typeface="Arial"/>
              </a:rPr>
              <a:t>Generates synthetic minority samples</a:t>
            </a:r>
          </a:p>
          <a:p>
            <a:pPr marL="342900" lvl="0" indent="-342900" fontAlgn="base">
              <a:buFont typeface="Arial" panose="020B0604020202020204" pitchFamily="34" charset="0"/>
              <a:buChar char="•"/>
            </a:pPr>
            <a:r>
              <a:rPr lang="en-GB" sz="2000" u="none" strike="noStrike" cap="none" spc="0" dirty="0">
                <a:solidFill>
                  <a:srgbClr val="424242">
                    <a:alpha val="100000"/>
                  </a:srgbClr>
                </a:solidFill>
                <a:latin typeface="Arial"/>
              </a:rPr>
              <a:t>Improves recall for at-risk students</a:t>
            </a:r>
          </a:p>
          <a:p>
            <a:pPr marL="342900" lvl="0" indent="-342900" fontAlgn="base">
              <a:buFont typeface="Arial" panose="020B0604020202020204" pitchFamily="34" charset="0"/>
              <a:buChar char="•"/>
            </a:pPr>
            <a:r>
              <a:rPr lang="en-GB" sz="2000" u="none" strike="noStrike" cap="none" spc="0" dirty="0">
                <a:solidFill>
                  <a:srgbClr val="424242">
                    <a:alpha val="100000"/>
                  </a:srgbClr>
                </a:solidFill>
                <a:latin typeface="Arial"/>
              </a:rPr>
              <a:t>Prevents majority-class bias</a:t>
            </a:r>
          </a:p>
        </p:txBody>
      </p:sp>
    </p:spTree>
    <p:extLst>
      <p:ext uri="{BB962C8B-B14F-4D97-AF65-F5344CB8AC3E}">
        <p14:creationId xmlns:p14="http://schemas.microsoft.com/office/powerpoint/2010/main" val="137473462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840702-DA6B-D06C-85D1-F7A40830056B}"/>
            </a:ext>
          </a:extLst>
        </p:cNvPr>
        <p:cNvGrpSpPr/>
        <p:nvPr/>
      </p:nvGrpSpPr>
      <p:grpSpPr>
        <a:xfrm>
          <a:off x="914400" y="1028700"/>
          <a:ext cx="8229600" cy="3019425"/>
          <a:chOff x="914400" y="1028700"/>
          <a:chExt cx="8229600" cy="3019425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EB5A4817-68D0-E8E7-094A-02E9AAD8F2F3}"/>
              </a:ext>
            </a:extLst>
          </p:cNvPr>
          <p:cNvSpPr txBox="1"/>
          <p:nvPr/>
        </p:nvSpPr>
        <p:spPr>
          <a:xfrm>
            <a:off x="685800" y="1047750"/>
            <a:ext cx="7315200" cy="523220"/>
          </a:xfrm>
          <a:prstGeom prst="rect">
            <a:avLst/>
          </a:prstGeom>
          <a:noFill/>
        </p:spPr>
        <p:txBody>
          <a:bodyPr vert="horz" lIns="91440" tIns="45720" rIns="91440" bIns="45720" rtlCol="0" anchor="t" anchorCtr="0">
            <a:spAutoFit/>
          </a:bodyPr>
          <a:lstStyle/>
          <a:p>
            <a:pPr lvl="0" fontAlgn="t"/>
            <a:r>
              <a:rPr lang="en-GB" sz="2800" b="1" dirty="0" err="1"/>
              <a:t>Modeling</a:t>
            </a:r>
            <a:r>
              <a:rPr lang="en-GB" sz="2800" b="1" dirty="0"/>
              <a:t> Approach </a:t>
            </a:r>
            <a:endParaRPr lang="en-US" sz="2800" b="1" u="none" strike="noStrike" cap="none" spc="0" dirty="0">
              <a:solidFill>
                <a:srgbClr val="121212">
                  <a:alpha val="100000"/>
                </a:srgbClr>
              </a:solidFill>
              <a:latin typeface="Arial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79A61D1-171E-34A1-A50B-B2F53EBB47DA}"/>
              </a:ext>
            </a:extLst>
          </p:cNvPr>
          <p:cNvSpPr txBox="1"/>
          <p:nvPr/>
        </p:nvSpPr>
        <p:spPr>
          <a:xfrm>
            <a:off x="914400" y="1800225"/>
            <a:ext cx="7315200" cy="2246769"/>
          </a:xfrm>
          <a:prstGeom prst="rect">
            <a:avLst/>
          </a:prstGeom>
          <a:noFill/>
        </p:spPr>
        <p:txBody>
          <a:bodyPr vert="horz" lIns="91440" tIns="45720" rIns="91440" bIns="45720" rtlCol="0" anchorCtr="0">
            <a:spAutoFit/>
          </a:bodyPr>
          <a:lstStyle/>
          <a:p>
            <a:pPr marL="342900" lvl="0" indent="-342900" fontAlgn="base">
              <a:buFont typeface="Arial" panose="020B0604020202020204" pitchFamily="34" charset="0"/>
              <a:buChar char="•"/>
            </a:pPr>
            <a:r>
              <a:rPr lang="en-GB" sz="2000" u="none" strike="noStrike" cap="none" spc="0" dirty="0">
                <a:solidFill>
                  <a:srgbClr val="424242">
                    <a:alpha val="100000"/>
                  </a:srgbClr>
                </a:solidFill>
                <a:latin typeface="Arial"/>
              </a:rPr>
              <a:t>Multiple independent pipelines</a:t>
            </a:r>
          </a:p>
          <a:p>
            <a:pPr marL="342900" lvl="0" indent="-342900" fontAlgn="base">
              <a:buFont typeface="Arial" panose="020B0604020202020204" pitchFamily="34" charset="0"/>
              <a:buChar char="•"/>
            </a:pPr>
            <a:r>
              <a:rPr lang="en-GB" sz="2000" u="none" strike="noStrike" cap="none" spc="0" dirty="0">
                <a:solidFill>
                  <a:srgbClr val="424242">
                    <a:alpha val="100000"/>
                  </a:srgbClr>
                </a:solidFill>
                <a:latin typeface="Arial"/>
              </a:rPr>
              <a:t>Separate datasets per target to avoid data leakage</a:t>
            </a:r>
          </a:p>
          <a:p>
            <a:pPr marL="342900" lvl="0" indent="-342900" fontAlgn="base">
              <a:buFont typeface="Arial" panose="020B0604020202020204" pitchFamily="34" charset="0"/>
              <a:buChar char="•"/>
            </a:pPr>
            <a:r>
              <a:rPr lang="en-GB" sz="2000" u="none" strike="noStrike" cap="none" spc="0" dirty="0">
                <a:solidFill>
                  <a:srgbClr val="424242">
                    <a:alpha val="100000"/>
                  </a:srgbClr>
                </a:solidFill>
                <a:latin typeface="Arial"/>
              </a:rPr>
              <a:t>Models evaluated using train–test split</a:t>
            </a:r>
          </a:p>
          <a:p>
            <a:pPr marL="342900" lvl="0" indent="-342900" fontAlgn="base">
              <a:buFont typeface="Arial" panose="020B0604020202020204" pitchFamily="34" charset="0"/>
              <a:buChar char="•"/>
            </a:pPr>
            <a:r>
              <a:rPr lang="en-GB" sz="2000" u="none" strike="noStrike" cap="none" spc="0" dirty="0">
                <a:solidFill>
                  <a:srgbClr val="424242">
                    <a:alpha val="100000"/>
                  </a:srgbClr>
                </a:solidFill>
                <a:latin typeface="Arial"/>
              </a:rPr>
              <a:t>Metrics chosen per task </a:t>
            </a:r>
          </a:p>
          <a:p>
            <a:pPr lvl="0" fontAlgn="base"/>
            <a:r>
              <a:rPr lang="en-GB" sz="2000" u="none" strike="noStrike" cap="none" spc="0" dirty="0">
                <a:solidFill>
                  <a:srgbClr val="424242">
                    <a:alpha val="100000"/>
                  </a:srgbClr>
                </a:solidFill>
                <a:latin typeface="Arial"/>
              </a:rPr>
              <a:t>                Regression → MSE, R2</a:t>
            </a:r>
          </a:p>
          <a:p>
            <a:pPr lvl="0" fontAlgn="base"/>
            <a:r>
              <a:rPr lang="en-GB" sz="2000" u="none" strike="noStrike" cap="none" spc="0" dirty="0">
                <a:solidFill>
                  <a:srgbClr val="424242">
                    <a:alpha val="100000"/>
                  </a:srgbClr>
                </a:solidFill>
                <a:latin typeface="Arial"/>
              </a:rPr>
              <a:t>               Classification → Accuracy, Precision, Recall, </a:t>
            </a:r>
          </a:p>
          <a:p>
            <a:pPr lvl="0" fontAlgn="base"/>
            <a:r>
              <a:rPr lang="en-GB" sz="2000" dirty="0">
                <a:solidFill>
                  <a:srgbClr val="424242">
                    <a:alpha val="100000"/>
                  </a:srgbClr>
                </a:solidFill>
                <a:latin typeface="Arial"/>
              </a:rPr>
              <a:t>                                          </a:t>
            </a:r>
            <a:r>
              <a:rPr lang="en-GB" sz="2000" u="none" strike="noStrike" cap="none" spc="0" dirty="0">
                <a:solidFill>
                  <a:srgbClr val="424242">
                    <a:alpha val="100000"/>
                  </a:srgbClr>
                </a:solidFill>
                <a:latin typeface="Arial"/>
              </a:rPr>
              <a:t>F1,  ROC-AUC</a:t>
            </a:r>
          </a:p>
        </p:txBody>
      </p:sp>
    </p:spTree>
    <p:extLst>
      <p:ext uri="{BB962C8B-B14F-4D97-AF65-F5344CB8AC3E}">
        <p14:creationId xmlns:p14="http://schemas.microsoft.com/office/powerpoint/2010/main" val="134909325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AB6FD1-C94F-7B9D-A486-53858B40F52A}"/>
            </a:ext>
          </a:extLst>
        </p:cNvPr>
        <p:cNvGrpSpPr/>
        <p:nvPr/>
      </p:nvGrpSpPr>
      <p:grpSpPr>
        <a:xfrm>
          <a:off x="914400" y="1028700"/>
          <a:ext cx="8229600" cy="3019425"/>
          <a:chOff x="914400" y="1028700"/>
          <a:chExt cx="8229600" cy="3019425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AC44807E-EDA7-6461-37AD-2F8704BB601A}"/>
              </a:ext>
            </a:extLst>
          </p:cNvPr>
          <p:cNvSpPr txBox="1"/>
          <p:nvPr/>
        </p:nvSpPr>
        <p:spPr>
          <a:xfrm>
            <a:off x="685800" y="1047750"/>
            <a:ext cx="7315200" cy="523220"/>
          </a:xfrm>
          <a:prstGeom prst="rect">
            <a:avLst/>
          </a:prstGeom>
          <a:noFill/>
        </p:spPr>
        <p:txBody>
          <a:bodyPr vert="horz" lIns="91440" tIns="45720" rIns="91440" bIns="45720" rtlCol="0" anchor="t" anchorCtr="0">
            <a:spAutoFit/>
          </a:bodyPr>
          <a:lstStyle/>
          <a:p>
            <a:pPr lvl="0" fontAlgn="t"/>
            <a:r>
              <a:rPr lang="en-GB" sz="2800" b="1" dirty="0"/>
              <a:t>Regression Models (</a:t>
            </a:r>
            <a:r>
              <a:rPr lang="en-GB" sz="2800" b="1" dirty="0" err="1"/>
              <a:t>Final_Score</a:t>
            </a:r>
            <a:r>
              <a:rPr lang="en-GB" sz="2800" b="1" dirty="0"/>
              <a:t>) </a:t>
            </a:r>
            <a:endParaRPr lang="en-US" sz="2800" b="1" u="none" strike="noStrike" cap="none" spc="0" dirty="0">
              <a:solidFill>
                <a:srgbClr val="121212">
                  <a:alpha val="100000"/>
                </a:srgbClr>
              </a:solidFill>
              <a:latin typeface="Arial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A6E804A-EC49-ED08-F4BF-FBCE66251572}"/>
              </a:ext>
            </a:extLst>
          </p:cNvPr>
          <p:cNvSpPr txBox="1"/>
          <p:nvPr/>
        </p:nvSpPr>
        <p:spPr>
          <a:xfrm>
            <a:off x="914400" y="1800225"/>
            <a:ext cx="7315200" cy="1323439"/>
          </a:xfrm>
          <a:prstGeom prst="rect">
            <a:avLst/>
          </a:prstGeom>
          <a:noFill/>
        </p:spPr>
        <p:txBody>
          <a:bodyPr vert="horz" lIns="91440" tIns="45720" rIns="91440" bIns="45720" rtlCol="0" anchorCtr="0">
            <a:spAutoFit/>
          </a:bodyPr>
          <a:lstStyle/>
          <a:p>
            <a:pPr marL="342900" lvl="0" indent="-342900" fontAlgn="base">
              <a:buFont typeface="Arial" panose="020B0604020202020204" pitchFamily="34" charset="0"/>
              <a:buChar char="•"/>
            </a:pPr>
            <a:r>
              <a:rPr lang="en-GB" sz="2000" u="none" strike="noStrike" cap="none" spc="0" dirty="0">
                <a:solidFill>
                  <a:srgbClr val="424242">
                    <a:alpha val="100000"/>
                  </a:srgbClr>
                </a:solidFill>
                <a:latin typeface="Arial"/>
              </a:rPr>
              <a:t>Linear Regression</a:t>
            </a:r>
          </a:p>
          <a:p>
            <a:pPr marL="342900" lvl="0" indent="-342900" fontAlgn="base">
              <a:buFont typeface="Arial" panose="020B0604020202020204" pitchFamily="34" charset="0"/>
              <a:buChar char="•"/>
            </a:pPr>
            <a:r>
              <a:rPr lang="en-GB" sz="2000" u="none" strike="noStrike" cap="none" spc="0" dirty="0">
                <a:solidFill>
                  <a:srgbClr val="424242">
                    <a:alpha val="100000"/>
                  </a:srgbClr>
                </a:solidFill>
                <a:latin typeface="Arial"/>
              </a:rPr>
              <a:t>Lasso Regression (L1 regularization)</a:t>
            </a:r>
          </a:p>
          <a:p>
            <a:pPr marL="342900" lvl="0" indent="-342900" fontAlgn="base">
              <a:buFont typeface="Arial" panose="020B0604020202020204" pitchFamily="34" charset="0"/>
              <a:buChar char="•"/>
            </a:pPr>
            <a:r>
              <a:rPr lang="en-GB" sz="2000" u="none" strike="noStrike" cap="none" spc="0" dirty="0">
                <a:solidFill>
                  <a:srgbClr val="424242">
                    <a:alpha val="100000"/>
                  </a:srgbClr>
                </a:solidFill>
                <a:latin typeface="Arial"/>
              </a:rPr>
              <a:t>Linear SVR</a:t>
            </a:r>
          </a:p>
          <a:p>
            <a:pPr marL="342900" lvl="0" indent="-342900" fontAlgn="base">
              <a:buFont typeface="Arial" panose="020B0604020202020204" pitchFamily="34" charset="0"/>
              <a:buChar char="•"/>
            </a:pPr>
            <a:r>
              <a:rPr lang="en-GB" sz="2000" u="none" strike="noStrike" cap="none" spc="0" dirty="0">
                <a:solidFill>
                  <a:srgbClr val="424242">
                    <a:alpha val="100000"/>
                  </a:srgbClr>
                </a:solidFill>
                <a:latin typeface="Arial"/>
              </a:rPr>
              <a:t>Non-Linear SVR (RBF kernel)</a:t>
            </a:r>
          </a:p>
        </p:txBody>
      </p:sp>
    </p:spTree>
    <p:extLst>
      <p:ext uri="{BB962C8B-B14F-4D97-AF65-F5344CB8AC3E}">
        <p14:creationId xmlns:p14="http://schemas.microsoft.com/office/powerpoint/2010/main" val="83658844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183352-8710-A7FC-5C8E-651BE8279901}"/>
            </a:ext>
          </a:extLst>
        </p:cNvPr>
        <p:cNvGrpSpPr/>
        <p:nvPr/>
      </p:nvGrpSpPr>
      <p:grpSpPr>
        <a:xfrm>
          <a:off x="914400" y="1028700"/>
          <a:ext cx="8229600" cy="3019425"/>
          <a:chOff x="914400" y="1028700"/>
          <a:chExt cx="8229600" cy="3019425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EA63EDBB-9FEB-62E4-657A-AD51902968E5}"/>
              </a:ext>
            </a:extLst>
          </p:cNvPr>
          <p:cNvSpPr txBox="1"/>
          <p:nvPr/>
        </p:nvSpPr>
        <p:spPr>
          <a:xfrm>
            <a:off x="707572" y="819477"/>
            <a:ext cx="7315200" cy="523220"/>
          </a:xfrm>
          <a:prstGeom prst="rect">
            <a:avLst/>
          </a:prstGeom>
          <a:noFill/>
        </p:spPr>
        <p:txBody>
          <a:bodyPr vert="horz" lIns="91440" tIns="45720" rIns="91440" bIns="45720" rtlCol="0" anchor="t" anchorCtr="0">
            <a:spAutoFit/>
          </a:bodyPr>
          <a:lstStyle/>
          <a:p>
            <a:pPr lvl="0" fontAlgn="t"/>
            <a:r>
              <a:rPr lang="en-GB" sz="2800" b="1" dirty="0"/>
              <a:t>Regression Results </a:t>
            </a:r>
            <a:endParaRPr lang="en-US" sz="2800" b="1" u="none" strike="noStrike" cap="none" spc="0" dirty="0">
              <a:solidFill>
                <a:srgbClr val="121212">
                  <a:alpha val="100000"/>
                </a:srgbClr>
              </a:solidFill>
              <a:latin typeface="Arial"/>
            </a:endParaRPr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0BD221FB-7E75-9CB1-1357-7F8397EED86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81250" y="2081212"/>
            <a:ext cx="4381500" cy="981075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7FA249DE-085C-70EA-0DF4-A11176125FB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2000" y="1733550"/>
            <a:ext cx="7486834" cy="1981200"/>
          </a:xfrm>
          <a:prstGeom prst="rect">
            <a:avLst/>
          </a:prstGeom>
        </p:spPr>
      </p:pic>
      <p:sp>
        <p:nvSpPr>
          <p:cNvPr id="24" name="TextBox 23">
            <a:extLst>
              <a:ext uri="{FF2B5EF4-FFF2-40B4-BE49-F238E27FC236}">
                <a16:creationId xmlns:a16="http://schemas.microsoft.com/office/drawing/2014/main" id="{5B0837DE-C61A-C192-2256-CF304071C637}"/>
              </a:ext>
            </a:extLst>
          </p:cNvPr>
          <p:cNvSpPr txBox="1"/>
          <p:nvPr/>
        </p:nvSpPr>
        <p:spPr>
          <a:xfrm>
            <a:off x="674915" y="3790950"/>
            <a:ext cx="794112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b="1" dirty="0"/>
              <a:t>This table shows the model Performance comparison for final score prediction.</a:t>
            </a:r>
          </a:p>
        </p:txBody>
      </p:sp>
    </p:spTree>
    <p:extLst>
      <p:ext uri="{BB962C8B-B14F-4D97-AF65-F5344CB8AC3E}">
        <p14:creationId xmlns:p14="http://schemas.microsoft.com/office/powerpoint/2010/main" val="104210958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91597C-E3D8-D0AA-543B-8E55851981DF}"/>
            </a:ext>
          </a:extLst>
        </p:cNvPr>
        <p:cNvGrpSpPr/>
        <p:nvPr/>
      </p:nvGrpSpPr>
      <p:grpSpPr>
        <a:xfrm>
          <a:off x="914400" y="1028700"/>
          <a:ext cx="8229600" cy="3019425"/>
          <a:chOff x="914400" y="1028700"/>
          <a:chExt cx="8229600" cy="3019425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72726BC3-6F21-6755-8AB2-7E3F0F591700}"/>
              </a:ext>
            </a:extLst>
          </p:cNvPr>
          <p:cNvSpPr txBox="1"/>
          <p:nvPr/>
        </p:nvSpPr>
        <p:spPr>
          <a:xfrm>
            <a:off x="685800" y="1047750"/>
            <a:ext cx="7315200" cy="523220"/>
          </a:xfrm>
          <a:prstGeom prst="rect">
            <a:avLst/>
          </a:prstGeom>
          <a:noFill/>
        </p:spPr>
        <p:txBody>
          <a:bodyPr vert="horz" lIns="91440" tIns="45720" rIns="91440" bIns="45720" rtlCol="0" anchor="t" anchorCtr="0">
            <a:spAutoFit/>
          </a:bodyPr>
          <a:lstStyle/>
          <a:p>
            <a:pPr lvl="0" fontAlgn="t"/>
            <a:r>
              <a:rPr lang="en-GB" sz="2800" b="1" dirty="0"/>
              <a:t>Regression Results </a:t>
            </a:r>
            <a:endParaRPr lang="en-US" sz="2800" b="1" u="none" strike="noStrike" cap="none" spc="0" dirty="0">
              <a:solidFill>
                <a:srgbClr val="121212">
                  <a:alpha val="100000"/>
                </a:srgbClr>
              </a:solidFill>
              <a:latin typeface="Arial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3C3DA0B-389C-7A8D-635B-8CD199823103}"/>
              </a:ext>
            </a:extLst>
          </p:cNvPr>
          <p:cNvSpPr txBox="1"/>
          <p:nvPr/>
        </p:nvSpPr>
        <p:spPr>
          <a:xfrm>
            <a:off x="914400" y="1800225"/>
            <a:ext cx="7315200" cy="1938992"/>
          </a:xfrm>
          <a:prstGeom prst="rect">
            <a:avLst/>
          </a:prstGeom>
          <a:noFill/>
        </p:spPr>
        <p:txBody>
          <a:bodyPr vert="horz" lIns="91440" tIns="45720" rIns="91440" bIns="45720" rtlCol="0" anchorCtr="0">
            <a:spAutoFit/>
          </a:bodyPr>
          <a:lstStyle/>
          <a:p>
            <a:pPr marL="342900" lvl="0" indent="-342900" fontAlgn="base">
              <a:buFont typeface="Arial" panose="020B0604020202020204" pitchFamily="34" charset="0"/>
              <a:buChar char="•"/>
            </a:pPr>
            <a:r>
              <a:rPr lang="en-GB" sz="2000" u="none" strike="noStrike" cap="none" spc="0" dirty="0" err="1">
                <a:solidFill>
                  <a:srgbClr val="424242">
                    <a:alpha val="100000"/>
                  </a:srgbClr>
                </a:solidFill>
                <a:latin typeface="Arial"/>
              </a:rPr>
              <a:t>LassoCV</a:t>
            </a:r>
            <a:r>
              <a:rPr lang="en-GB" sz="2000" u="none" strike="noStrike" cap="none" spc="0" dirty="0">
                <a:solidFill>
                  <a:srgbClr val="424242">
                    <a:alpha val="100000"/>
                  </a:srgbClr>
                </a:solidFill>
                <a:latin typeface="Arial"/>
              </a:rPr>
              <a:t> performed best</a:t>
            </a:r>
          </a:p>
          <a:p>
            <a:pPr lvl="0" fontAlgn="base"/>
            <a:r>
              <a:rPr lang="en-GB" sz="2000" dirty="0">
                <a:solidFill>
                  <a:srgbClr val="424242">
                    <a:alpha val="100000"/>
                  </a:srgbClr>
                </a:solidFill>
                <a:latin typeface="Arial"/>
              </a:rPr>
              <a:t>                </a:t>
            </a:r>
            <a:r>
              <a:rPr lang="en-GB" sz="2000" u="none" strike="noStrike" cap="none" spc="0" dirty="0">
                <a:solidFill>
                  <a:srgbClr val="424242">
                    <a:alpha val="100000"/>
                  </a:srgbClr>
                </a:solidFill>
                <a:latin typeface="Arial"/>
              </a:rPr>
              <a:t>Lowest Test MSE</a:t>
            </a:r>
          </a:p>
          <a:p>
            <a:pPr lvl="0" fontAlgn="base"/>
            <a:r>
              <a:rPr lang="en-GB" sz="2000" dirty="0">
                <a:solidFill>
                  <a:srgbClr val="424242">
                    <a:alpha val="100000"/>
                  </a:srgbClr>
                </a:solidFill>
                <a:latin typeface="Arial"/>
              </a:rPr>
              <a:t>                </a:t>
            </a:r>
            <a:r>
              <a:rPr lang="en-GB" sz="2000" u="none" strike="noStrike" cap="none" spc="0" dirty="0">
                <a:solidFill>
                  <a:srgbClr val="424242">
                    <a:alpha val="100000"/>
                  </a:srgbClr>
                </a:solidFill>
                <a:latin typeface="Arial"/>
              </a:rPr>
              <a:t>Best generalization</a:t>
            </a:r>
          </a:p>
          <a:p>
            <a:pPr lvl="0" fontAlgn="base"/>
            <a:r>
              <a:rPr lang="en-GB" sz="2000" dirty="0">
                <a:solidFill>
                  <a:srgbClr val="424242">
                    <a:alpha val="100000"/>
                  </a:srgbClr>
                </a:solidFill>
                <a:latin typeface="Arial"/>
              </a:rPr>
              <a:t>                </a:t>
            </a:r>
            <a:r>
              <a:rPr lang="en-GB" sz="2000" u="none" strike="noStrike" cap="none" spc="0" dirty="0">
                <a:solidFill>
                  <a:srgbClr val="424242">
                    <a:alpha val="100000"/>
                  </a:srgbClr>
                </a:solidFill>
                <a:latin typeface="Arial"/>
              </a:rPr>
              <a:t>Automatic feature selection</a:t>
            </a:r>
          </a:p>
          <a:p>
            <a:pPr marL="342900" lvl="0" indent="-342900" fontAlgn="base">
              <a:buFont typeface="Arial" panose="020B0604020202020204" pitchFamily="34" charset="0"/>
              <a:buChar char="•"/>
            </a:pPr>
            <a:r>
              <a:rPr lang="en-GB" sz="2000" u="none" strike="noStrike" cap="none" spc="0" dirty="0">
                <a:solidFill>
                  <a:srgbClr val="424242">
                    <a:alpha val="100000"/>
                  </a:srgbClr>
                </a:solidFill>
                <a:latin typeface="Arial"/>
              </a:rPr>
              <a:t>Non-linear SVR did not improve performance → relationship mostly linear</a:t>
            </a:r>
          </a:p>
        </p:txBody>
      </p:sp>
    </p:spTree>
    <p:extLst>
      <p:ext uri="{BB962C8B-B14F-4D97-AF65-F5344CB8AC3E}">
        <p14:creationId xmlns:p14="http://schemas.microsoft.com/office/powerpoint/2010/main" val="98513153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612259-312D-A526-9250-78BFEB33A302}"/>
            </a:ext>
          </a:extLst>
        </p:cNvPr>
        <p:cNvGrpSpPr/>
        <p:nvPr/>
      </p:nvGrpSpPr>
      <p:grpSpPr>
        <a:xfrm>
          <a:off x="914400" y="1028700"/>
          <a:ext cx="8229600" cy="3019425"/>
          <a:chOff x="914400" y="1028700"/>
          <a:chExt cx="8229600" cy="3019425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BFEE595-424A-FBF6-2E9D-8F8C7D2A3EB1}"/>
              </a:ext>
            </a:extLst>
          </p:cNvPr>
          <p:cNvSpPr txBox="1"/>
          <p:nvPr/>
        </p:nvSpPr>
        <p:spPr>
          <a:xfrm>
            <a:off x="685800" y="1047750"/>
            <a:ext cx="7315200" cy="523220"/>
          </a:xfrm>
          <a:prstGeom prst="rect">
            <a:avLst/>
          </a:prstGeom>
          <a:noFill/>
        </p:spPr>
        <p:txBody>
          <a:bodyPr vert="horz" lIns="91440" tIns="45720" rIns="91440" bIns="45720" rtlCol="0" anchor="t" anchorCtr="0">
            <a:spAutoFit/>
          </a:bodyPr>
          <a:lstStyle/>
          <a:p>
            <a:pPr lvl="0" fontAlgn="t"/>
            <a:r>
              <a:rPr lang="en-GB" sz="2800" b="1" dirty="0"/>
              <a:t>Classification Models (</a:t>
            </a:r>
            <a:r>
              <a:rPr lang="en-GB" sz="2800" b="1" dirty="0" err="1"/>
              <a:t>Pass_Fail</a:t>
            </a:r>
            <a:r>
              <a:rPr lang="en-GB" sz="2800" b="1" dirty="0"/>
              <a:t>) </a:t>
            </a:r>
            <a:endParaRPr lang="en-US" sz="2800" b="1" u="none" strike="noStrike" cap="none" spc="0" dirty="0">
              <a:solidFill>
                <a:srgbClr val="121212">
                  <a:alpha val="100000"/>
                </a:srgbClr>
              </a:solidFill>
              <a:latin typeface="Arial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7C6E9AF-C8B4-6D87-0010-1396A0907E90}"/>
              </a:ext>
            </a:extLst>
          </p:cNvPr>
          <p:cNvSpPr txBox="1"/>
          <p:nvPr/>
        </p:nvSpPr>
        <p:spPr>
          <a:xfrm>
            <a:off x="914400" y="1800225"/>
            <a:ext cx="7315200" cy="2246769"/>
          </a:xfrm>
          <a:prstGeom prst="rect">
            <a:avLst/>
          </a:prstGeom>
          <a:noFill/>
        </p:spPr>
        <p:txBody>
          <a:bodyPr vert="horz" lIns="91440" tIns="45720" rIns="91440" bIns="45720" rtlCol="0" anchorCtr="0">
            <a:spAutoFit/>
          </a:bodyPr>
          <a:lstStyle/>
          <a:p>
            <a:pPr marL="342900" lvl="0" indent="-342900" fontAlgn="base">
              <a:buFont typeface="Arial" panose="020B0604020202020204" pitchFamily="34" charset="0"/>
              <a:buChar char="•"/>
            </a:pPr>
            <a:r>
              <a:rPr lang="en-GB" sz="2000" u="none" strike="noStrike" cap="none" spc="0" dirty="0">
                <a:solidFill>
                  <a:srgbClr val="424242">
                    <a:alpha val="100000"/>
                  </a:srgbClr>
                </a:solidFill>
                <a:latin typeface="Arial"/>
              </a:rPr>
              <a:t>Logistic Regression  </a:t>
            </a:r>
          </a:p>
          <a:p>
            <a:pPr marL="342900" lvl="0" indent="-342900" fontAlgn="base">
              <a:buFont typeface="Arial" panose="020B0604020202020204" pitchFamily="34" charset="0"/>
              <a:buChar char="•"/>
            </a:pPr>
            <a:r>
              <a:rPr lang="en-GB" sz="2000" u="none" strike="noStrike" cap="none" spc="0" dirty="0">
                <a:solidFill>
                  <a:srgbClr val="424242">
                    <a:alpha val="100000"/>
                  </a:srgbClr>
                </a:solidFill>
                <a:latin typeface="Arial"/>
              </a:rPr>
              <a:t>Support Vector Machine (SVM)</a:t>
            </a:r>
          </a:p>
          <a:p>
            <a:pPr marL="342900" lvl="0" indent="-342900" fontAlgn="base">
              <a:buFont typeface="Arial" panose="020B0604020202020204" pitchFamily="34" charset="0"/>
              <a:buChar char="•"/>
            </a:pPr>
            <a:r>
              <a:rPr lang="en-GB" sz="2000" u="none" strike="noStrike" cap="none" spc="0" dirty="0">
                <a:solidFill>
                  <a:srgbClr val="424242">
                    <a:alpha val="100000"/>
                  </a:srgbClr>
                </a:solidFill>
                <a:latin typeface="Arial"/>
              </a:rPr>
              <a:t>Naive Bayes </a:t>
            </a:r>
          </a:p>
          <a:p>
            <a:pPr marL="342900" lvl="0" indent="-342900" fontAlgn="base">
              <a:buFont typeface="Arial" panose="020B0604020202020204" pitchFamily="34" charset="0"/>
              <a:buChar char="•"/>
            </a:pPr>
            <a:r>
              <a:rPr lang="en-GB" sz="2000" u="none" strike="noStrike" cap="none" spc="0" dirty="0">
                <a:solidFill>
                  <a:srgbClr val="424242">
                    <a:alpha val="100000"/>
                  </a:srgbClr>
                </a:solidFill>
                <a:latin typeface="Arial"/>
              </a:rPr>
              <a:t>Random Forest </a:t>
            </a:r>
          </a:p>
          <a:p>
            <a:pPr marL="342900" lvl="0" indent="-342900" fontAlgn="base">
              <a:buFont typeface="Arial" panose="020B0604020202020204" pitchFamily="34" charset="0"/>
              <a:buChar char="•"/>
            </a:pPr>
            <a:r>
              <a:rPr lang="en-GB" sz="2000" u="none" strike="noStrike" cap="none" spc="0" dirty="0">
                <a:solidFill>
                  <a:srgbClr val="424242">
                    <a:alpha val="100000"/>
                  </a:srgbClr>
                </a:solidFill>
                <a:latin typeface="Arial"/>
              </a:rPr>
              <a:t>Gradient Boosting</a:t>
            </a:r>
          </a:p>
          <a:p>
            <a:pPr marL="342900" lvl="0" indent="-342900" fontAlgn="base">
              <a:buFont typeface="Arial" panose="020B0604020202020204" pitchFamily="34" charset="0"/>
              <a:buChar char="•"/>
            </a:pPr>
            <a:endParaRPr lang="en-GB" sz="2000" u="none" strike="noStrike" cap="none" spc="0" dirty="0">
              <a:solidFill>
                <a:srgbClr val="424242">
                  <a:alpha val="100000"/>
                </a:srgbClr>
              </a:solidFill>
              <a:latin typeface="Arial"/>
            </a:endParaRPr>
          </a:p>
          <a:p>
            <a:pPr marL="342900" lvl="0" indent="-342900" fontAlgn="base">
              <a:buFont typeface="Arial" panose="020B0604020202020204" pitchFamily="34" charset="0"/>
              <a:buChar char="•"/>
            </a:pPr>
            <a:endParaRPr lang="en-GB" sz="2000" u="none" strike="noStrike" cap="none" spc="0" dirty="0">
              <a:solidFill>
                <a:srgbClr val="424242">
                  <a:alpha val="100000"/>
                </a:srgbClr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14070253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98511C-EE36-3E0E-D0A9-0CB4F87BDF58}"/>
            </a:ext>
          </a:extLst>
        </p:cNvPr>
        <p:cNvGrpSpPr/>
        <p:nvPr/>
      </p:nvGrpSpPr>
      <p:grpSpPr>
        <a:xfrm>
          <a:off x="914400" y="1028700"/>
          <a:ext cx="8229600" cy="3019425"/>
          <a:chOff x="914400" y="1028700"/>
          <a:chExt cx="8229600" cy="3019425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1150B64-4CED-133D-09CA-A5BA7E9C0E31}"/>
              </a:ext>
            </a:extLst>
          </p:cNvPr>
          <p:cNvSpPr txBox="1"/>
          <p:nvPr/>
        </p:nvSpPr>
        <p:spPr>
          <a:xfrm>
            <a:off x="707572" y="819477"/>
            <a:ext cx="7315200" cy="523220"/>
          </a:xfrm>
          <a:prstGeom prst="rect">
            <a:avLst/>
          </a:prstGeom>
          <a:noFill/>
        </p:spPr>
        <p:txBody>
          <a:bodyPr vert="horz" lIns="91440" tIns="45720" rIns="91440" bIns="45720" rtlCol="0" anchor="t" anchorCtr="0">
            <a:spAutoFit/>
          </a:bodyPr>
          <a:lstStyle/>
          <a:p>
            <a:pPr lvl="0" fontAlgn="t"/>
            <a:r>
              <a:rPr lang="en-GB" sz="2800" b="1" dirty="0"/>
              <a:t>Classification Results </a:t>
            </a:r>
            <a:endParaRPr lang="en-US" sz="2800" b="1" u="none" strike="noStrike" cap="none" spc="0" dirty="0">
              <a:solidFill>
                <a:srgbClr val="121212">
                  <a:alpha val="100000"/>
                </a:srgbClr>
              </a:solidFill>
              <a:latin typeface="Arial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7E5C8D61-E7BA-1FBC-6D39-FD9E02000AD6}"/>
              </a:ext>
            </a:extLst>
          </p:cNvPr>
          <p:cNvSpPr txBox="1"/>
          <p:nvPr/>
        </p:nvSpPr>
        <p:spPr>
          <a:xfrm>
            <a:off x="674915" y="3790950"/>
            <a:ext cx="794112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b="1" dirty="0"/>
              <a:t>This table shows the model Performance comparison for pass-fail prediction.</a:t>
            </a:r>
          </a:p>
        </p:txBody>
      </p:sp>
      <p:pic>
        <p:nvPicPr>
          <p:cNvPr id="23" name="Picture 22">
            <a:extLst>
              <a:ext uri="{FF2B5EF4-FFF2-40B4-BE49-F238E27FC236}">
                <a16:creationId xmlns:a16="http://schemas.microsoft.com/office/drawing/2014/main" id="{31BBEC40-D5AD-AD85-FB20-C92556EB3E7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" y="1581150"/>
            <a:ext cx="6755037" cy="17668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7023908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85169D-B24A-78FC-082F-E516BA601FC4}"/>
            </a:ext>
          </a:extLst>
        </p:cNvPr>
        <p:cNvGrpSpPr/>
        <p:nvPr/>
      </p:nvGrpSpPr>
      <p:grpSpPr>
        <a:xfrm>
          <a:off x="914400" y="1028700"/>
          <a:ext cx="8229600" cy="3019425"/>
          <a:chOff x="914400" y="1028700"/>
          <a:chExt cx="8229600" cy="3019425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2FC85CE-9BEF-1B81-F654-3EA1A95F3A05}"/>
              </a:ext>
            </a:extLst>
          </p:cNvPr>
          <p:cNvSpPr txBox="1"/>
          <p:nvPr/>
        </p:nvSpPr>
        <p:spPr>
          <a:xfrm>
            <a:off x="685800" y="1047750"/>
            <a:ext cx="7315200" cy="523220"/>
          </a:xfrm>
          <a:prstGeom prst="rect">
            <a:avLst/>
          </a:prstGeom>
          <a:noFill/>
        </p:spPr>
        <p:txBody>
          <a:bodyPr vert="horz" lIns="91440" tIns="45720" rIns="91440" bIns="45720" rtlCol="0" anchor="t" anchorCtr="0">
            <a:spAutoFit/>
          </a:bodyPr>
          <a:lstStyle/>
          <a:p>
            <a:pPr lvl="0" fontAlgn="t"/>
            <a:r>
              <a:rPr lang="en-GB" sz="2800" b="1" dirty="0"/>
              <a:t>Classification Results </a:t>
            </a:r>
            <a:endParaRPr lang="en-US" sz="2800" b="1" u="none" strike="noStrike" cap="none" spc="0" dirty="0">
              <a:solidFill>
                <a:srgbClr val="121212">
                  <a:alpha val="100000"/>
                </a:srgbClr>
              </a:solidFill>
              <a:latin typeface="Arial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CCDB609-7B33-E674-EC74-DA934B08C034}"/>
              </a:ext>
            </a:extLst>
          </p:cNvPr>
          <p:cNvSpPr txBox="1"/>
          <p:nvPr/>
        </p:nvSpPr>
        <p:spPr>
          <a:xfrm>
            <a:off x="914400" y="1800225"/>
            <a:ext cx="7315200" cy="1938992"/>
          </a:xfrm>
          <a:prstGeom prst="rect">
            <a:avLst/>
          </a:prstGeom>
          <a:noFill/>
        </p:spPr>
        <p:txBody>
          <a:bodyPr vert="horz" lIns="91440" tIns="45720" rIns="91440" bIns="45720" rtlCol="0" anchorCtr="0">
            <a:spAutoFit/>
          </a:bodyPr>
          <a:lstStyle/>
          <a:p>
            <a:pPr marL="342900" lvl="0" indent="-342900" fontAlgn="base">
              <a:buFont typeface="Arial" panose="020B0604020202020204" pitchFamily="34" charset="0"/>
              <a:buChar char="•"/>
            </a:pPr>
            <a:r>
              <a:rPr lang="en-GB" sz="2000" dirty="0">
                <a:solidFill>
                  <a:srgbClr val="424242">
                    <a:alpha val="100000"/>
                  </a:srgbClr>
                </a:solidFill>
                <a:latin typeface="Arial"/>
              </a:rPr>
              <a:t>Gradient Boosting achieved:</a:t>
            </a:r>
          </a:p>
          <a:p>
            <a:pPr lvl="0" fontAlgn="base"/>
            <a:r>
              <a:rPr lang="en-GB" sz="2000" dirty="0">
                <a:solidFill>
                  <a:srgbClr val="424242">
                    <a:alpha val="100000"/>
                  </a:srgbClr>
                </a:solidFill>
                <a:latin typeface="Arial"/>
              </a:rPr>
              <a:t>           Highest Accuracy</a:t>
            </a:r>
          </a:p>
          <a:p>
            <a:pPr lvl="0" fontAlgn="base"/>
            <a:r>
              <a:rPr lang="en-GB" sz="2000" dirty="0">
                <a:solidFill>
                  <a:srgbClr val="424242">
                    <a:alpha val="100000"/>
                  </a:srgbClr>
                </a:solidFill>
                <a:latin typeface="Arial"/>
              </a:rPr>
              <a:t>           Best F1-scoreHighest </a:t>
            </a:r>
          </a:p>
          <a:p>
            <a:pPr lvl="0" fontAlgn="base"/>
            <a:r>
              <a:rPr lang="en-GB" sz="2000" dirty="0">
                <a:solidFill>
                  <a:srgbClr val="424242">
                    <a:alpha val="100000"/>
                  </a:srgbClr>
                </a:solidFill>
                <a:latin typeface="Arial"/>
              </a:rPr>
              <a:t>           ROC-AUC (0.98)</a:t>
            </a:r>
          </a:p>
          <a:p>
            <a:pPr marL="342900" lvl="0" indent="-342900" fontAlgn="base">
              <a:buFont typeface="Arial" panose="020B0604020202020204" pitchFamily="34" charset="0"/>
              <a:buChar char="•"/>
            </a:pPr>
            <a:r>
              <a:rPr lang="en-GB" sz="2000" dirty="0">
                <a:solidFill>
                  <a:srgbClr val="424242">
                    <a:alpha val="100000"/>
                  </a:srgbClr>
                </a:solidFill>
                <a:latin typeface="Arial"/>
              </a:rPr>
              <a:t>Random Forest close enough</a:t>
            </a:r>
          </a:p>
          <a:p>
            <a:pPr marL="342900" lvl="0" indent="-342900" fontAlgn="base">
              <a:buFont typeface="Arial" panose="020B0604020202020204" pitchFamily="34" charset="0"/>
              <a:buChar char="•"/>
            </a:pPr>
            <a:r>
              <a:rPr lang="en-GB" sz="2000" dirty="0">
                <a:solidFill>
                  <a:srgbClr val="424242">
                    <a:alpha val="100000"/>
                  </a:srgbClr>
                </a:solidFill>
                <a:latin typeface="Arial"/>
              </a:rPr>
              <a:t>Naive Bayes weakest due to independence assumption</a:t>
            </a:r>
            <a:endParaRPr lang="en-GB" sz="2000" u="none" strike="noStrike" cap="none" spc="0" dirty="0">
              <a:solidFill>
                <a:srgbClr val="424242">
                  <a:alpha val="100000"/>
                </a:srgbClr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7233940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7B3426-4C28-3471-9569-E5F8A273BF1E}"/>
            </a:ext>
          </a:extLst>
        </p:cNvPr>
        <p:cNvGrpSpPr/>
        <p:nvPr/>
      </p:nvGrpSpPr>
      <p:grpSpPr>
        <a:xfrm>
          <a:off x="914400" y="1028700"/>
          <a:ext cx="8229600" cy="3019425"/>
          <a:chOff x="914400" y="1028700"/>
          <a:chExt cx="8229600" cy="3019425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254A075-3A5B-1053-E76C-6A1AB7C4742D}"/>
              </a:ext>
            </a:extLst>
          </p:cNvPr>
          <p:cNvSpPr txBox="1"/>
          <p:nvPr/>
        </p:nvSpPr>
        <p:spPr>
          <a:xfrm>
            <a:off x="685800" y="1047750"/>
            <a:ext cx="7315200" cy="523220"/>
          </a:xfrm>
          <a:prstGeom prst="rect">
            <a:avLst/>
          </a:prstGeom>
          <a:noFill/>
        </p:spPr>
        <p:txBody>
          <a:bodyPr vert="horz" lIns="91440" tIns="45720" rIns="91440" bIns="45720" rtlCol="0" anchor="t" anchorCtr="0">
            <a:spAutoFit/>
          </a:bodyPr>
          <a:lstStyle/>
          <a:p>
            <a:pPr lvl="0" fontAlgn="t"/>
            <a:r>
              <a:rPr lang="en-GB" sz="2800" b="1" dirty="0"/>
              <a:t>Multiclass Models (</a:t>
            </a:r>
            <a:r>
              <a:rPr lang="en-GB" sz="2800" b="1" dirty="0" err="1"/>
              <a:t>Final_Grade</a:t>
            </a:r>
            <a:r>
              <a:rPr lang="en-GB" sz="2800" b="1" dirty="0"/>
              <a:t>) </a:t>
            </a:r>
            <a:endParaRPr lang="en-US" sz="2800" b="1" u="none" strike="noStrike" cap="none" spc="0" dirty="0">
              <a:solidFill>
                <a:srgbClr val="121212">
                  <a:alpha val="100000"/>
                </a:srgbClr>
              </a:solidFill>
              <a:latin typeface="Arial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F8567A7-DF15-50E3-4DDC-C10B3A6F2425}"/>
              </a:ext>
            </a:extLst>
          </p:cNvPr>
          <p:cNvSpPr txBox="1"/>
          <p:nvPr/>
        </p:nvSpPr>
        <p:spPr>
          <a:xfrm>
            <a:off x="914400" y="1800225"/>
            <a:ext cx="7315200" cy="1631216"/>
          </a:xfrm>
          <a:prstGeom prst="rect">
            <a:avLst/>
          </a:prstGeom>
          <a:noFill/>
        </p:spPr>
        <p:txBody>
          <a:bodyPr vert="horz" lIns="91440" tIns="45720" rIns="91440" bIns="45720" rtlCol="0" anchorCtr="0">
            <a:spAutoFit/>
          </a:bodyPr>
          <a:lstStyle/>
          <a:p>
            <a:pPr marL="342900" lvl="0" indent="-342900" fontAlgn="base">
              <a:buFont typeface="Arial" panose="020B0604020202020204" pitchFamily="34" charset="0"/>
              <a:buChar char="•"/>
            </a:pPr>
            <a:r>
              <a:rPr lang="en-GB" sz="2000" u="none" strike="noStrike" cap="none" spc="0" dirty="0">
                <a:solidFill>
                  <a:srgbClr val="424242">
                    <a:alpha val="100000"/>
                  </a:srgbClr>
                </a:solidFill>
                <a:latin typeface="Arial"/>
              </a:rPr>
              <a:t>Support Vector Classifier (SVC)</a:t>
            </a:r>
          </a:p>
          <a:p>
            <a:pPr marL="342900" lvl="0" indent="-342900" fontAlgn="base">
              <a:buFont typeface="Arial" panose="020B0604020202020204" pitchFamily="34" charset="0"/>
              <a:buChar char="•"/>
            </a:pPr>
            <a:r>
              <a:rPr lang="en-GB" sz="2000" u="none" strike="noStrike" cap="none" spc="0" dirty="0">
                <a:solidFill>
                  <a:srgbClr val="424242">
                    <a:alpha val="100000"/>
                  </a:srgbClr>
                </a:solidFill>
                <a:latin typeface="Arial"/>
              </a:rPr>
              <a:t>Random Forest </a:t>
            </a:r>
          </a:p>
          <a:p>
            <a:pPr marL="342900" lvl="0" indent="-342900" fontAlgn="base">
              <a:buFont typeface="Arial" panose="020B0604020202020204" pitchFamily="34" charset="0"/>
              <a:buChar char="•"/>
            </a:pPr>
            <a:r>
              <a:rPr lang="en-GB" sz="2000" u="none" strike="noStrike" cap="none" spc="0" dirty="0">
                <a:solidFill>
                  <a:srgbClr val="424242">
                    <a:alpha val="100000"/>
                  </a:srgbClr>
                </a:solidFill>
                <a:latin typeface="Arial"/>
              </a:rPr>
              <a:t>Gradient Boosting</a:t>
            </a:r>
          </a:p>
          <a:p>
            <a:pPr marL="342900" lvl="0" indent="-342900" fontAlgn="base">
              <a:buFont typeface="Arial" panose="020B0604020202020204" pitchFamily="34" charset="0"/>
              <a:buChar char="•"/>
            </a:pPr>
            <a:endParaRPr lang="en-GB" sz="2000" u="none" strike="noStrike" cap="none" spc="0" dirty="0">
              <a:solidFill>
                <a:srgbClr val="424242">
                  <a:alpha val="100000"/>
                </a:srgbClr>
              </a:solidFill>
              <a:latin typeface="Arial"/>
            </a:endParaRPr>
          </a:p>
          <a:p>
            <a:pPr marL="342900" lvl="0" indent="-342900" fontAlgn="base">
              <a:buFont typeface="Arial" panose="020B0604020202020204" pitchFamily="34" charset="0"/>
              <a:buChar char="•"/>
            </a:pPr>
            <a:endParaRPr lang="en-GB" sz="2000" u="none" strike="noStrike" cap="none" spc="0" dirty="0">
              <a:solidFill>
                <a:srgbClr val="424242">
                  <a:alpha val="100000"/>
                </a:srgbClr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9876363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BF3471-B903-EE60-D9EC-245E68D4DD9F}"/>
            </a:ext>
          </a:extLst>
        </p:cNvPr>
        <p:cNvGrpSpPr/>
        <p:nvPr/>
      </p:nvGrpSpPr>
      <p:grpSpPr>
        <a:xfrm>
          <a:off x="914400" y="1028700"/>
          <a:ext cx="8229600" cy="3019425"/>
          <a:chOff x="914400" y="1028700"/>
          <a:chExt cx="8229600" cy="3019425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EE35FBDA-485C-BEC2-6A3E-D46D0FC0B181}"/>
              </a:ext>
            </a:extLst>
          </p:cNvPr>
          <p:cNvSpPr txBox="1"/>
          <p:nvPr/>
        </p:nvSpPr>
        <p:spPr>
          <a:xfrm>
            <a:off x="707572" y="819477"/>
            <a:ext cx="7315200" cy="523220"/>
          </a:xfrm>
          <a:prstGeom prst="rect">
            <a:avLst/>
          </a:prstGeom>
          <a:noFill/>
        </p:spPr>
        <p:txBody>
          <a:bodyPr vert="horz" lIns="91440" tIns="45720" rIns="91440" bIns="45720" rtlCol="0" anchor="t" anchorCtr="0">
            <a:spAutoFit/>
          </a:bodyPr>
          <a:lstStyle/>
          <a:p>
            <a:pPr lvl="0" fontAlgn="t"/>
            <a:r>
              <a:rPr lang="en-GB" sz="2800" b="1" dirty="0"/>
              <a:t>Multi-Class Results </a:t>
            </a:r>
            <a:endParaRPr lang="en-US" sz="2800" b="1" u="none" strike="noStrike" cap="none" spc="0" dirty="0">
              <a:solidFill>
                <a:srgbClr val="121212">
                  <a:alpha val="100000"/>
                </a:srgbClr>
              </a:solidFill>
              <a:latin typeface="Arial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26BDEFA9-B0DC-DC55-94D9-740AD70B08CE}"/>
              </a:ext>
            </a:extLst>
          </p:cNvPr>
          <p:cNvSpPr txBox="1"/>
          <p:nvPr/>
        </p:nvSpPr>
        <p:spPr>
          <a:xfrm>
            <a:off x="674915" y="3790950"/>
            <a:ext cx="794112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b="1" dirty="0"/>
              <a:t>The Table  illustrates the significant challenge of multiclass classification within the educational domain.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CAB44E6-39C2-CB5B-C38C-F604C941105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" y="1885950"/>
            <a:ext cx="7858125" cy="11525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7779812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9161AF-13D9-9797-50F1-FC170A8DAFF1}"/>
            </a:ext>
          </a:extLst>
        </p:cNvPr>
        <p:cNvGrpSpPr/>
        <p:nvPr/>
      </p:nvGrpSpPr>
      <p:grpSpPr>
        <a:xfrm>
          <a:off x="914400" y="1028700"/>
          <a:ext cx="8229600" cy="3019425"/>
          <a:chOff x="914400" y="1028700"/>
          <a:chExt cx="8229600" cy="3019425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F966AFB-7F09-CAC9-B912-D63EE4A00AED}"/>
              </a:ext>
            </a:extLst>
          </p:cNvPr>
          <p:cNvSpPr txBox="1"/>
          <p:nvPr/>
        </p:nvSpPr>
        <p:spPr>
          <a:xfrm>
            <a:off x="707572" y="819477"/>
            <a:ext cx="7315200" cy="523220"/>
          </a:xfrm>
          <a:prstGeom prst="rect">
            <a:avLst/>
          </a:prstGeom>
          <a:noFill/>
        </p:spPr>
        <p:txBody>
          <a:bodyPr vert="horz" lIns="91440" tIns="45720" rIns="91440" bIns="45720" rtlCol="0" anchor="t" anchorCtr="0">
            <a:spAutoFit/>
          </a:bodyPr>
          <a:lstStyle/>
          <a:p>
            <a:pPr lvl="0" fontAlgn="t"/>
            <a:r>
              <a:rPr lang="en-GB" sz="2800" b="1" dirty="0"/>
              <a:t>Multi-Class Results </a:t>
            </a:r>
            <a:endParaRPr lang="en-US" sz="2800" b="1" u="none" strike="noStrike" cap="none" spc="0" dirty="0">
              <a:solidFill>
                <a:srgbClr val="121212">
                  <a:alpha val="100000"/>
                </a:srgbClr>
              </a:solidFill>
              <a:latin typeface="Arial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CB7C2F9-541B-7D13-3070-544217C8069B}"/>
              </a:ext>
            </a:extLst>
          </p:cNvPr>
          <p:cNvSpPr txBox="1"/>
          <p:nvPr/>
        </p:nvSpPr>
        <p:spPr>
          <a:xfrm>
            <a:off x="859972" y="1556087"/>
            <a:ext cx="7010400" cy="31393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fontAlgn="base">
              <a:buFont typeface="Arial" panose="020B0604020202020204" pitchFamily="34" charset="0"/>
              <a:buChar char="•"/>
            </a:pPr>
            <a:r>
              <a:rPr lang="en-GB" dirty="0"/>
              <a:t>The Gradient Boosting model significantly outperformed its counterparts with an accuracy of 0.67, suggesting that its iterative error-correction mechanism is highly effective at capturing the non-linear nuances of student </a:t>
            </a:r>
            <a:r>
              <a:rPr lang="en-GB" dirty="0" err="1"/>
              <a:t>behavior</a:t>
            </a:r>
            <a:r>
              <a:rPr lang="en-GB" dirty="0"/>
              <a:t>.</a:t>
            </a:r>
          </a:p>
          <a:p>
            <a:pPr marL="342900" indent="-342900" fontAlgn="base">
              <a:buFont typeface="Arial" panose="020B0604020202020204" pitchFamily="34" charset="0"/>
              <a:buChar char="•"/>
            </a:pPr>
            <a:r>
              <a:rPr lang="en-GB" dirty="0"/>
              <a:t>The SVC’s poor performance indicates that, in the high-dimensional feature space, student profiles from different grade tiers overlap substantially, making it difficult to learn clear separating margins.</a:t>
            </a:r>
          </a:p>
          <a:p>
            <a:pPr marL="342900" indent="-342900" fontAlgn="base">
              <a:buFont typeface="Arial" panose="020B0604020202020204" pitchFamily="34" charset="0"/>
              <a:buChar char="•"/>
            </a:pPr>
            <a:r>
              <a:rPr lang="en-GB" dirty="0"/>
              <a:t>In a multiclass </a:t>
            </a:r>
            <a:r>
              <a:rPr lang="en-GB" dirty="0" err="1"/>
              <a:t>OvO</a:t>
            </a:r>
            <a:r>
              <a:rPr lang="en-GB" dirty="0"/>
              <a:t> setup, this overlap—exacerbated by SMOTE-induced variance—likely led to ambiguous pairwise decisions and unreliable voting outcomes.</a:t>
            </a:r>
          </a:p>
          <a:p>
            <a:pPr marL="342900" lvl="0" indent="-342900" fontAlgn="base">
              <a:buFont typeface="Arial" panose="020B0604020202020204" pitchFamily="34" charset="0"/>
              <a:buChar char="•"/>
            </a:pPr>
            <a:endParaRPr lang="en-GB" sz="1800" dirty="0">
              <a:solidFill>
                <a:srgbClr val="424242">
                  <a:alpha val="100000"/>
                </a:srgbClr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54005421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1828800" y="1028700"/>
          <a:ext cx="7315200" cy="3581400"/>
          <a:chOff x="1828800" y="1028700"/>
          <a:chExt cx="7315200" cy="3581400"/>
        </a:xfrm>
      </p:grpSpPr>
      <p:sp>
        <p:nvSpPr>
          <p:cNvPr id="2" name="TextBox 1"/>
          <p:cNvSpPr txBox="1"/>
          <p:nvPr/>
        </p:nvSpPr>
        <p:spPr>
          <a:xfrm>
            <a:off x="1752600" y="1962150"/>
            <a:ext cx="5486400" cy="857250"/>
          </a:xfrm>
          <a:prstGeom prst="rect">
            <a:avLst/>
          </a:prstGeom>
          <a:noFill/>
        </p:spPr>
        <p:txBody>
          <a:bodyPr vert="horz" lIns="91440" tIns="45720" rIns="91440" bIns="45720" rtlCol="0" anchor="t" anchorCtr="0">
            <a:spAutoFit/>
          </a:bodyPr>
          <a:lstStyle/>
          <a:p>
            <a:pPr marL="0" marR="0" lvl="0" indent="0" algn="ctr" rtl="0" fontAlgn="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6000" b="1" u="none" strike="noStrike" cap="none" spc="0" dirty="0">
                <a:solidFill>
                  <a:srgbClr val="424242">
                    <a:alpha val="100000"/>
                  </a:srgbClr>
                </a:solidFill>
                <a:latin typeface="Arial"/>
              </a:rPr>
              <a:t>Thank you!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heme33">
  <a:themeElements>
    <a:clrScheme name="Theme33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Theme33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Theme33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1786</TotalTime>
  <Words>478</Words>
  <Application>Microsoft Office PowerPoint</Application>
  <PresentationFormat>On-screen Show (16:9)</PresentationFormat>
  <Paragraphs>90</Paragraphs>
  <Slides>17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19" baseType="lpstr">
      <vt:lpstr>Arial</vt:lpstr>
      <vt:lpstr>Theme33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Microsoft Corporation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Untitled Presentation</dc:title>
  <dc:subject/>
  <dc:creator>Unknown Creator</dc:creator>
  <cp:keywords/>
  <dc:description/>
  <cp:lastModifiedBy>Aml Tarek Hussein Ismail</cp:lastModifiedBy>
  <cp:revision>5</cp:revision>
  <dcterms:created xsi:type="dcterms:W3CDTF">2025-05-09T18:06:01Z</dcterms:created>
  <dcterms:modified xsi:type="dcterms:W3CDTF">2025-12-30T07:54:30Z</dcterms:modified>
  <cp:category/>
  <cp:contentStatus/>
</cp:coreProperties>
</file>